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2" roundtripDataSignature="AMtx7mgE4gQ37/WEnSGpRqvo5wIRTOQH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8968484C-DA87-4861-8869-64D6AA9564FE}">
  <a:tblStyle styleId="{8968484C-DA87-4861-8869-64D6AA9564F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eee9ae1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5eee9ae1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ef592f6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5ef592f6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minutes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dc424acd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5dc424ac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dc424acd6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5dc424ac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ef578389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5ef578389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eee9ae16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5eee9ae16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minutes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eee9ae16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5eee9ae16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5eee9ae16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5eee9ae16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ef578389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5ef578389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ef578389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5ef578389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minutes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ef592f6ed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5ef592f6e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5ef592f6ed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5ef592f6e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ef592f6ed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5ef592f6e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ef592f6ed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5ef592f6e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ef592f6ed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5ef592f6e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5ef592f6ed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5ef592f6e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5ef592f6ed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5ef592f6e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5ef592f6e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5ef592f6e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5ef592f6e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5ef592f6e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minutes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5eee9ae167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5eee9ae16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5eee9ae16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5eee9ae16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eee9ae16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5eee9ae1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minutes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5ef592f6e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5ef592f6e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ef592f6e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ef592f6e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5ef592f6e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5ef592f6e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ef592f6e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ef592f6e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5ef592f6ed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5ef592f6e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5ef592f6ed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5ef592f6ed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5ef592f6e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5ef592f6e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 minutes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5eee9ae167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5eee9ae16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eee9ae167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5eee9ae16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eee9ae167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5eee9ae16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5ef592f6ed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5ef592f6e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5ef592f6e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5ef592f6e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3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31"/>
          <p:cNvSpPr txBox="1"/>
          <p:nvPr/>
        </p:nvSpPr>
        <p:spPr>
          <a:xfrm>
            <a:off x="140618" y="4749851"/>
            <a:ext cx="23985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#ETCIVKAMPALACODE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3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3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2"/>
          <p:cNvSpPr txBox="1"/>
          <p:nvPr/>
        </p:nvSpPr>
        <p:spPr>
          <a:xfrm>
            <a:off x="140618" y="4749851"/>
            <a:ext cx="23985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#ETCIVKAMPALACODE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" name="Google Shape;30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34"/>
          <p:cNvSpPr txBox="1"/>
          <p:nvPr/>
        </p:nvSpPr>
        <p:spPr>
          <a:xfrm>
            <a:off x="140618" y="4749851"/>
            <a:ext cx="23985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#ETCIVKAMPALACODE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45" name="Google Shape;45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3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3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5"/>
          <p:cNvSpPr txBox="1"/>
          <p:nvPr/>
        </p:nvSpPr>
        <p:spPr>
          <a:xfrm>
            <a:off x="140618" y="4749851"/>
            <a:ext cx="23985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#ETCIVKAMPALACODE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3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3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6"/>
          <p:cNvSpPr txBox="1"/>
          <p:nvPr/>
        </p:nvSpPr>
        <p:spPr>
          <a:xfrm>
            <a:off x="140618" y="4749851"/>
            <a:ext cx="23985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#ETCIVKAMPALACODE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3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3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3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0" name="Google Shape;80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40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40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eee9ae167_0_1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CSS Basics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5ef592f6ed_0_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Adding CSS to a page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dc424acd6_0_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The style attribute</a:t>
            </a:r>
            <a:endParaRPr/>
          </a:p>
        </p:txBody>
      </p:sp>
      <p:sp>
        <p:nvSpPr>
          <p:cNvPr id="102" name="Google Shape;102;g5dc424acd6_0_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 style=</a:t>
            </a:r>
            <a:r>
              <a:rPr lang="en-US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"background: red; padding: 15px; color: white"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A red box!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/>
          </a:p>
        </p:txBody>
      </p:sp>
      <p:sp>
        <p:nvSpPr>
          <p:cNvPr id="103" name="Google Shape;103;g5dc424acd6_0_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CSS can be added to any element using the style attribute </a:t>
            </a:r>
            <a:endParaRPr sz="1800"/>
          </a:p>
        </p:txBody>
      </p:sp>
      <p:pic>
        <p:nvPicPr>
          <p:cNvPr id="104" name="Google Shape;104;g5dc424acd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3404725"/>
            <a:ext cx="22669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The style tag</a:t>
            </a:r>
            <a:endParaRPr/>
          </a:p>
        </p:txBody>
      </p:sp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&lt;style type=</a:t>
            </a:r>
            <a:r>
              <a:rPr lang="en-US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"text/css"</a:t>
            </a: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 {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color: green;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&lt;/style&gt;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text will be green.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 style=</a:t>
            </a:r>
            <a:r>
              <a:rPr lang="en-US" sz="1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"color: blue"</a:t>
            </a: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The</a:t>
            </a: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style attribute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can override the green.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0"/>
          </a:p>
        </p:txBody>
      </p:sp>
      <p:sp>
        <p:nvSpPr>
          <p:cNvPr id="111" name="Google Shape;111;p1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&lt;style&gt; element can be included inside the &lt;head&gt; or &lt;body&gt; of the document, and the styles will still be applied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however it is recommended that you include your styles in the &lt;head&gt; for organizational purposes</a:t>
            </a:r>
            <a:endParaRPr sz="1800"/>
          </a:p>
        </p:txBody>
      </p:sp>
      <p:pic>
        <p:nvPicPr>
          <p:cNvPr id="112" name="Google Shape;1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050" y="4259950"/>
            <a:ext cx="2714625" cy="733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dc424acd6_0_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External stylesheet</a:t>
            </a:r>
            <a:endParaRPr/>
          </a:p>
        </p:txBody>
      </p:sp>
      <p:pic>
        <p:nvPicPr>
          <p:cNvPr id="118" name="Google Shape;118;g5dc424acd6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575" y="1853850"/>
            <a:ext cx="4117024" cy="2392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5dc424acd6_0_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The HTML External Resource Link element (&lt;link&gt;) links the current document to an external resource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It is most commonly used to link to stylesheets, but is also used to set site icons among other things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Syntax &amp; Vocabulary</a:t>
            </a:r>
            <a:endParaRPr/>
          </a:p>
        </p:txBody>
      </p:sp>
      <p:pic>
        <p:nvPicPr>
          <p:cNvPr id="125" name="Google Shape;125;p12"/>
          <p:cNvPicPr preferRelativeResize="0"/>
          <p:nvPr/>
        </p:nvPicPr>
        <p:blipFill rotWithShape="1">
          <a:blip r:embed="rId3">
            <a:alphaModFix/>
          </a:blip>
          <a:srcRect b="0" l="6537" r="-9971" t="0"/>
          <a:stretch/>
        </p:blipFill>
        <p:spPr>
          <a:xfrm>
            <a:off x="4721900" y="2344850"/>
            <a:ext cx="4772150" cy="19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800" y="2571750"/>
            <a:ext cx="3651074" cy="166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ef5783892_0_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32" name="Google Shape;132;g5ef5783892_0_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Research how to add a site icon using the link element. Set an icon on your profile page from the previous class</a:t>
            </a:r>
            <a:endParaRPr sz="1800"/>
          </a:p>
        </p:txBody>
      </p:sp>
      <p:pic>
        <p:nvPicPr>
          <p:cNvPr id="133" name="Google Shape;133;g5ef5783892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800" y="2959025"/>
            <a:ext cx="237172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eee9ae167_0_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CSS Selectors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eee9ae167_0_11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Element Selectors</a:t>
            </a:r>
            <a:endParaRPr/>
          </a:p>
        </p:txBody>
      </p:sp>
      <p:sp>
        <p:nvSpPr>
          <p:cNvPr id="144" name="Google Shape;144;g5eee9ae167_0_11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&lt;p&gt;What color do you like?&lt;/p&gt;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&lt;div&gt;I like blue.&lt;/div&gt;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&lt;p&gt;I prefer BLACK!&lt;/p&gt;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/* Make p elements are red */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 { color: red;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/* Make div elements are blue */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color: blue;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g5eee9ae167_0_11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>
                <a:latin typeface="Raleway"/>
                <a:ea typeface="Raleway"/>
                <a:cs typeface="Raleway"/>
                <a:sym typeface="Raleway"/>
              </a:rPr>
              <a:t>This is the simplest way to target all elements of a given type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6" name="Google Shape;146;g5eee9ae167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7600" y="3033638"/>
            <a:ext cx="4486275" cy="1533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Class Selectors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729325" y="2078875"/>
            <a:ext cx="4274100" cy="26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&lt;ul&gt;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&lt;li </a:t>
            </a:r>
            <a:r>
              <a:rPr lang="en-US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"first done"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&gt;HTML&lt;/li&gt;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&lt;li </a:t>
            </a:r>
            <a:r>
              <a:rPr lang="en-US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"second done"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&gt;CSS&lt;/li&gt;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&lt;li </a:t>
            </a:r>
            <a:r>
              <a:rPr lang="en-US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"third"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US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JavaScript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&lt;/li&gt;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&lt;/ul&gt;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.first { font-weight: bold;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.done { text-decoration: line-through;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3" name="Google Shape;153;p21"/>
          <p:cNvSpPr txBox="1"/>
          <p:nvPr>
            <p:ph idx="2" type="body"/>
          </p:nvPr>
        </p:nvSpPr>
        <p:spPr>
          <a:xfrm>
            <a:off x="4643600" y="2078875"/>
            <a:ext cx="37743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400">
                <a:latin typeface="Raleway"/>
                <a:ea typeface="Raleway"/>
                <a:cs typeface="Raleway"/>
                <a:sym typeface="Raleway"/>
              </a:rPr>
              <a:t>Syntax is a dot followed by a class name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400">
                <a:latin typeface="Raleway"/>
                <a:ea typeface="Raleway"/>
                <a:cs typeface="Raleway"/>
                <a:sym typeface="Raleway"/>
              </a:rPr>
              <a:t>A class name can be value without spaces, placed within an HTML class attribute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400">
                <a:latin typeface="Raleway"/>
                <a:ea typeface="Raleway"/>
                <a:cs typeface="Raleway"/>
                <a:sym typeface="Raleway"/>
              </a:rPr>
              <a:t>It’s up to you to choose a class names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400">
                <a:latin typeface="Raleway"/>
                <a:ea typeface="Raleway"/>
                <a:cs typeface="Raleway"/>
                <a:sym typeface="Raleway"/>
              </a:rPr>
              <a:t>Many elements can have the same class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400">
                <a:latin typeface="Raleway"/>
                <a:ea typeface="Raleway"/>
                <a:cs typeface="Raleway"/>
                <a:sym typeface="Raleway"/>
              </a:rPr>
              <a:t>One element can have multiple classes separated by whitespace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 rotWithShape="1">
          <a:blip r:embed="rId3">
            <a:alphaModFix/>
          </a:blip>
          <a:srcRect b="41475" l="0" r="61712" t="0"/>
          <a:stretch/>
        </p:blipFill>
        <p:spPr>
          <a:xfrm>
            <a:off x="3595725" y="1083775"/>
            <a:ext cx="1407700" cy="819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5eee9ae167_0_15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ID Selectors</a:t>
            </a:r>
            <a:endParaRPr/>
          </a:p>
        </p:txBody>
      </p:sp>
      <p:sp>
        <p:nvSpPr>
          <p:cNvPr id="160" name="Google Shape;160;g5eee9ae167_0_15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 id=</a:t>
            </a:r>
            <a:r>
              <a:rPr lang="en-US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"first"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US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Docus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Inzikuru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 id=</a:t>
            </a:r>
            <a:r>
              <a:rPr lang="en-US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"second"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US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Yekaterina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Volkova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&lt;p id=</a:t>
            </a:r>
            <a:r>
              <a:rPr lang="en-US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"third"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US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Jeruto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Kiptum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 {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text-transform: uppercase;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#first { background-color: goldenrod;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#second { background-color: silver;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#third { background-color: #CD7F32;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/>
          </a:p>
        </p:txBody>
      </p:sp>
      <p:sp>
        <p:nvSpPr>
          <p:cNvPr id="161" name="Google Shape;161;g5eee9ae167_0_15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The ID selector consists of a hash(#), followed by the ID of a given element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Any element can have a unique ID set with the id attribute.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Up to you to choose an ID name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Best  way to select a single element.</a:t>
            </a:r>
            <a:endParaRPr sz="1800"/>
          </a:p>
        </p:txBody>
      </p:sp>
      <p:pic>
        <p:nvPicPr>
          <p:cNvPr id="162" name="Google Shape;162;g5eee9ae167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5875" y="383425"/>
            <a:ext cx="3790918" cy="1013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5ef5783892_0_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ID Selectors</a:t>
            </a:r>
            <a:endParaRPr/>
          </a:p>
        </p:txBody>
      </p:sp>
      <p:sp>
        <p:nvSpPr>
          <p:cNvPr id="168" name="Google Shape;168;g5ef5783892_0_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>
                <a:latin typeface="Raleway"/>
                <a:ea typeface="Raleway"/>
                <a:cs typeface="Raleway"/>
                <a:sym typeface="Raleway"/>
              </a:rPr>
              <a:t>How do you style logo image?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9" name="Google Shape;169;g5ef5783892_0_1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>
                <a:latin typeface="Raleway"/>
                <a:ea typeface="Raleway"/>
                <a:cs typeface="Raleway"/>
                <a:sym typeface="Raleway"/>
              </a:rPr>
              <a:t>Give your tag an “id”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0" name="Google Shape;170;g5ef5783892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279" y="2548325"/>
            <a:ext cx="3471500" cy="2001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5ef5783892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5112" y="2484543"/>
            <a:ext cx="3763060" cy="2001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ID vs Class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729325" y="2078875"/>
            <a:ext cx="29826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>
                <a:latin typeface="Raleway"/>
                <a:ea typeface="Raleway"/>
                <a:cs typeface="Raleway"/>
                <a:sym typeface="Raleway"/>
              </a:rPr>
              <a:t>Use an ID to style only one element on the page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>
                <a:latin typeface="Raleway"/>
                <a:ea typeface="Raleway"/>
                <a:cs typeface="Raleway"/>
                <a:sym typeface="Raleway"/>
              </a:rPr>
              <a:t>Use a class to reuse styles on more than one element on the page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9608" r="0" t="0"/>
          <a:stretch/>
        </p:blipFill>
        <p:spPr>
          <a:xfrm>
            <a:off x="4203950" y="1746050"/>
            <a:ext cx="4625275" cy="24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800"/>
              <a:t>Research other CSS selectors and what they do. Use the following type of selectors in your code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Element selector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ID and Class selector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Descendant selector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Direct descendant selector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Attribute selector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ef5783892_0_4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Text Properties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text-color</a:t>
            </a:r>
            <a:endParaRPr/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body { color: blue;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h1 { color: green; 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6" name="Google Shape;196;p1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color property is used to set the color of the text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5ef592f6ed_0_1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text-align</a:t>
            </a:r>
            <a:endParaRPr/>
          </a:p>
        </p:txBody>
      </p:sp>
      <p:sp>
        <p:nvSpPr>
          <p:cNvPr id="202" name="Google Shape;202;g5ef592f6ed_0_1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h1 { </a:t>
            </a:r>
            <a:r>
              <a:rPr lang="en-US" sz="14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en-US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center; }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h2 { </a:t>
            </a:r>
            <a:r>
              <a:rPr lang="en-US" sz="14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en-US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left; }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h3 { </a:t>
            </a:r>
            <a:r>
              <a:rPr lang="en-US" sz="14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en-US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right; }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A52A2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g5ef592f6ed_0_1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text-align property is used to set the horizontal alignment of a text.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 text can be left or right aligned, centered, or justified.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ef592f6ed_0_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text-decoration</a:t>
            </a:r>
            <a:endParaRPr/>
          </a:p>
        </p:txBody>
      </p:sp>
      <p:sp>
        <p:nvSpPr>
          <p:cNvPr id="209" name="Google Shape;209;g5ef592f6ed_0_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none;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h1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overline;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h2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line-through;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h3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underline;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g5ef592f6ed_0_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text-decoration property is used to set or remove decorations from text.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value text-decoration: none; is often used to remove underlines from links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other text-decoration values are used to decorate text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5ef592f6ed_0_3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text-transform</a:t>
            </a:r>
            <a:endParaRPr/>
          </a:p>
        </p:txBody>
      </p:sp>
      <p:sp>
        <p:nvSpPr>
          <p:cNvPr id="216" name="Google Shape;216;g5ef592f6ed_0_3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p.uppercase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text-transform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uppercase;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p.lowercase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text-transform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lowercase;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p.capitalize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text-transform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capitalize;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7" name="Google Shape;217;g5ef592f6ed_0_3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text-transform property is used to specify uppercase and lowercase letters in a text.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It can be used to turn everything into uppercase or lowercase letters, or capitalize the first letter of each word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ef592f6ed_0_5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font-size</a:t>
            </a:r>
            <a:endParaRPr/>
          </a:p>
        </p:txBody>
      </p:sp>
      <p:sp>
        <p:nvSpPr>
          <p:cNvPr id="223" name="Google Shape;223;g5ef592f6ed_0_5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h1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40px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h2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30px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4" name="Google Shape;224;g5ef592f6ed_0_5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font-size property sets the size of the text.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ef592f6ed_0_6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font-weight</a:t>
            </a:r>
            <a:endParaRPr/>
          </a:p>
        </p:txBody>
      </p:sp>
      <p:sp>
        <p:nvSpPr>
          <p:cNvPr id="230" name="Google Shape;230;g5ef592f6ed_0_6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p.normal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normal;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p.thick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bold;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p.very-thick {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700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1" name="Google Shape;231;g5ef592f6ed_0_6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font-weight is meant for setting the weight (boldness) of the font. normal is the default.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value can be anything between 100 to 700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can also be normal, light, bold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ef592f6ed_0_8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font-family</a:t>
            </a:r>
            <a:endParaRPr/>
          </a:p>
        </p:txBody>
      </p:sp>
      <p:sp>
        <p:nvSpPr>
          <p:cNvPr id="237" name="Google Shape;237;g5ef592f6ed_0_8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p.a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font-family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05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"Times New Roman"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Times, serif;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p.b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font-family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Arial, Helvetica, sans-serif;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8" name="Google Shape;238;g5ef592f6ed_0_8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font-family property specifies the font for an element.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font-family property can be several font names as backup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If the browser does not support the first font, it tries the next font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5ef592f6ed_0_4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text-shadow</a:t>
            </a:r>
            <a:endParaRPr/>
          </a:p>
        </p:txBody>
      </p:sp>
      <p:sp>
        <p:nvSpPr>
          <p:cNvPr id="244" name="Google Shape;244;g5ef592f6ed_0_4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text-shadow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red;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5" name="Google Shape;245;g5ef592f6ed_0_4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text-shadow property adds shadow to text.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example specifies the position of the horizontal shadow (3px), the position of the vertical shadow (2px) and the color of the shadow (red)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46" name="Google Shape;246;g5ef592f6ed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3668900"/>
            <a:ext cx="27241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ef592f6ed_0_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52" name="Google Shape;252;g5ef592f6ed_0_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Research other text properties and write code to prove that you understand them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What is the difference between serif and a san-serif fonts? Get examples of both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ef592f6ed_0_9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Values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Colors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879325" y="3493250"/>
            <a:ext cx="33366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4" name="Google Shape;264;p13"/>
          <p:cNvGraphicFramePr/>
          <p:nvPr/>
        </p:nvGraphicFramePr>
        <p:xfrm>
          <a:off x="579075" y="20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{8968484C-DA87-4861-8869-64D6AA9564FE}</a:tableStyleId>
              </a:tblPr>
              <a:tblGrid>
                <a:gridCol w="1668300"/>
                <a:gridCol w="1668300"/>
              </a:tblGrid>
              <a:tr h="2161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41484D"/>
                          </a:solidFill>
                        </a:rPr>
                        <a:t>Name of Color</a:t>
                      </a:r>
                      <a:endParaRPr b="1" sz="800" u="none" cap="none" strike="noStrike">
                        <a:solidFill>
                          <a:srgbClr val="41484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orange, blue, purple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41484D"/>
                          </a:solidFill>
                        </a:rPr>
                        <a:t>Hexadecimal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#FFFFFF, #ffaabb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41484D"/>
                          </a:solidFill>
                        </a:rPr>
                        <a:t>RGB</a:t>
                      </a:r>
                      <a:endParaRPr b="1" sz="800" u="none" cap="none" strike="noStrike">
                        <a:solidFill>
                          <a:srgbClr val="41484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rgb(255, 255, 255)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41484D"/>
                          </a:solidFill>
                        </a:rPr>
                        <a:t>HSL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hsl(0, 0%, 100%)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41484D"/>
                          </a:solidFill>
                        </a:rPr>
                        <a:t>HSV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hsv(0, 0%, 100%)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41484D"/>
                          </a:solidFill>
                        </a:rPr>
                        <a:t>HWB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hwb(0, 100%, 0%)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10160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41484D"/>
                          </a:solidFill>
                        </a:rPr>
                        <a:t>CMYK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cmyk(0%, 0%, 0%, 0%)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5" name="Google Shape;265;p13"/>
          <p:cNvSpPr txBox="1"/>
          <p:nvPr>
            <p:ph idx="2" type="body"/>
          </p:nvPr>
        </p:nvSpPr>
        <p:spPr>
          <a:xfrm>
            <a:off x="4643600" y="2078875"/>
            <a:ext cx="3774300" cy="26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Colors can be represented in different ways in CSS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CSS has inbuilt colors - use by name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RGB stands for Red Green Blue. Each value is between 0 and 255. For same values of R, G and B, you get a shade of grey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HSL, HSV, HWB, CMYK are rarely used, research how they work and when you can use them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5eee9ae167_0_9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Units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71" name="Google Shape;271;g5eee9ae167_0_90"/>
          <p:cNvSpPr txBox="1"/>
          <p:nvPr/>
        </p:nvSpPr>
        <p:spPr>
          <a:xfrm>
            <a:off x="879325" y="3493250"/>
            <a:ext cx="33366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2" name="Google Shape;272;g5eee9ae167_0_90"/>
          <p:cNvGraphicFramePr/>
          <p:nvPr/>
        </p:nvGraphicFramePr>
        <p:xfrm>
          <a:off x="579075" y="20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{8968484C-DA87-4861-8869-64D6AA9564FE}</a:tableStyleId>
              </a:tblPr>
              <a:tblGrid>
                <a:gridCol w="1668300"/>
                <a:gridCol w="1668300"/>
              </a:tblGrid>
              <a:tr h="216175"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66666"/>
                          </a:solidFill>
                        </a:rPr>
                        <a:t>Unit</a:t>
                      </a:r>
                      <a:endParaRPr b="1"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66666"/>
                          </a:solidFill>
                        </a:rPr>
                        <a:t>Description</a:t>
                      </a:r>
                      <a:endParaRPr b="1"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px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Pixels are relative to the viewing device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pt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points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em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2em means twice the size of the current font size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10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%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666666"/>
                          </a:solidFill>
                        </a:rPr>
                        <a:t>Relative to the parent element</a:t>
                      </a:r>
                      <a:endParaRPr sz="10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3" name="Google Shape;273;g5eee9ae167_0_90"/>
          <p:cNvSpPr txBox="1"/>
          <p:nvPr>
            <p:ph idx="2" type="body"/>
          </p:nvPr>
        </p:nvSpPr>
        <p:spPr>
          <a:xfrm>
            <a:off x="4643600" y="2078875"/>
            <a:ext cx="3774300" cy="26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CSS has several different units for expressing a length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Many CSS properties take "length" values, such as </a:t>
            </a:r>
            <a:r>
              <a:rPr b="1"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width</a:t>
            </a: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b="1"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margin</a:t>
            </a: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b="1"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padding</a:t>
            </a: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b="1"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font-size</a:t>
            </a:r>
            <a:endParaRPr b="1"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Length is a number followed by a length unit, such as 10px, 2em, etc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If the value is 0, the unit is not needed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For some CSS properties, negative lengths are allowed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5eee9ae167_0_1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79" name="Google Shape;279;g5eee9ae167_0_17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Research</a:t>
            </a:r>
            <a:r>
              <a:rPr lang="en-US" sz="1800"/>
              <a:t> all units that can be used in CSS and use them in your code as you see fit 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5eee9ae167_0_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CSS Layout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ef592f6ed_0_1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display property</a:t>
            </a:r>
            <a:endParaRPr/>
          </a:p>
        </p:txBody>
      </p:sp>
      <p:sp>
        <p:nvSpPr>
          <p:cNvPr id="290" name="Google Shape;290;g5ef592f6ed_0_1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.inline { </a:t>
            </a:r>
            <a:r>
              <a:rPr lang="en-US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inline;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.inline-block { </a:t>
            </a:r>
            <a:r>
              <a:rPr lang="en-US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inline-block;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.block { </a:t>
            </a:r>
            <a:r>
              <a:rPr lang="en-US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block;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.no-display { </a:t>
            </a:r>
            <a:r>
              <a:rPr lang="en-US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en-US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none; }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1" name="Google Shape;291;g5ef592f6ed_0_11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Display property defines how elements are going to be placed on the web page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There are mainly four types of display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Block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Inline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Inline-Block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None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5ef592f6ed_0_1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Inline Display</a:t>
            </a:r>
            <a:endParaRPr/>
          </a:p>
        </p:txBody>
      </p:sp>
      <p:sp>
        <p:nvSpPr>
          <p:cNvPr id="297" name="Google Shape;297;g5ef592f6ed_0_12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Inline elements ignore the height and the width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An inline element does not start on a new line and only takes up as much width as necessary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Example include &lt;a&gt;, &lt;b&gt;, &lt;i&gt;</a:t>
            </a:r>
            <a:endParaRPr sz="1800"/>
          </a:p>
        </p:txBody>
      </p:sp>
      <p:pic>
        <p:nvPicPr>
          <p:cNvPr id="298" name="Google Shape;298;g5ef592f6ed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50" y="2637925"/>
            <a:ext cx="432435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5ef592f6ed_0_13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 Display</a:t>
            </a:r>
            <a:endParaRPr/>
          </a:p>
        </p:txBody>
      </p:sp>
      <p:sp>
        <p:nvSpPr>
          <p:cNvPr id="304" name="Google Shape;304;g5ef592f6ed_0_13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 block element always starts on a new line and takes up the full width available (stretches out to the left and right as far as it can)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</a:t>
            </a:r>
            <a:r>
              <a:rPr lang="en-US" sz="1800"/>
              <a:t>lements like &lt;div&gt;, &lt;section&gt;, and &lt;ul&gt; are block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Block elements are usually used as containers for other elements</a:t>
            </a:r>
            <a:endParaRPr sz="1800"/>
          </a:p>
        </p:txBody>
      </p:sp>
      <p:pic>
        <p:nvPicPr>
          <p:cNvPr id="305" name="Google Shape;305;g5ef592f6ed_0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292838"/>
            <a:ext cx="4338803" cy="1833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5ef592f6ed_0_14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Inline </a:t>
            </a:r>
            <a:r>
              <a:rPr lang="en-US"/>
              <a:t>Block Display</a:t>
            </a:r>
            <a:endParaRPr/>
          </a:p>
        </p:txBody>
      </p:sp>
      <p:sp>
        <p:nvSpPr>
          <p:cNvPr id="311" name="Google Shape;311;g5ef592f6ed_0_14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An element set to inline-block is very similar to inline in that it will be in line with the natural flow of text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difference is that you are able to set a width and height which will be respected.</a:t>
            </a:r>
            <a:endParaRPr sz="1800"/>
          </a:p>
        </p:txBody>
      </p:sp>
      <p:pic>
        <p:nvPicPr>
          <p:cNvPr id="312" name="Google Shape;312;g5ef592f6ed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00" y="2078875"/>
            <a:ext cx="4338803" cy="2031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5ef592f6ed_0_15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Display None</a:t>
            </a:r>
            <a:endParaRPr/>
          </a:p>
        </p:txBody>
      </p:sp>
      <p:sp>
        <p:nvSpPr>
          <p:cNvPr id="318" name="Google Shape;318;g5ef592f6ed_0_15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Totally removes the element from the page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While the element is still in the in the page, it is removed visually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ef592f6ed_0_3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324" name="Google Shape;324;g5ef592f6ed_0_3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Research other values of CSS Display and write code to show that you understand the other CSS display properties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5ef592f6ed_0_10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CSS Box Model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Box Model</a:t>
            </a:r>
            <a:endParaRPr/>
          </a:p>
        </p:txBody>
      </p:sp>
      <p:sp>
        <p:nvSpPr>
          <p:cNvPr id="335" name="Google Shape;335;p16"/>
          <p:cNvSpPr txBox="1"/>
          <p:nvPr>
            <p:ph idx="2" type="body"/>
          </p:nvPr>
        </p:nvSpPr>
        <p:spPr>
          <a:xfrm>
            <a:off x="4643600" y="2078875"/>
            <a:ext cx="37743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content area contains the "real" content of an element like text, images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padding area extends from the content area to include additional space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border area extends from the padding area to give the element a borders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The margin area extends from the border area to include an empty area used to separate the element from its neighbors</a:t>
            </a:r>
            <a:endParaRPr sz="1400"/>
          </a:p>
        </p:txBody>
      </p:sp>
      <p:pic>
        <p:nvPicPr>
          <p:cNvPr id="336" name="Google Shape;3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963450"/>
            <a:ext cx="36385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Width &amp; Height</a:t>
            </a:r>
            <a:endParaRPr/>
          </a:p>
        </p:txBody>
      </p:sp>
      <p:sp>
        <p:nvSpPr>
          <p:cNvPr id="342" name="Google Shape;34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solid red;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/* or */</a:t>
            </a:r>
            <a:endParaRPr sz="1050">
              <a:solidFill>
                <a:srgbClr val="D81B6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D81B6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border-top: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solid red;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border-right: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dotted black;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border-bottom: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dashed green;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border-left: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dotted black;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3" name="Google Shape;343;p17"/>
          <p:cNvSpPr txBox="1"/>
          <p:nvPr>
            <p:ph idx="2" type="body"/>
          </p:nvPr>
        </p:nvSpPr>
        <p:spPr>
          <a:xfrm>
            <a:off x="4643600" y="2078875"/>
            <a:ext cx="37743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The </a:t>
            </a:r>
            <a:r>
              <a:rPr b="1" lang="en-US"/>
              <a:t>height</a:t>
            </a:r>
            <a:r>
              <a:rPr lang="en-US"/>
              <a:t> and </a:t>
            </a:r>
            <a:r>
              <a:rPr b="1" lang="en-US"/>
              <a:t>width</a:t>
            </a:r>
            <a:r>
              <a:rPr lang="en-US"/>
              <a:t> properties are used to set the height and width of an element.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The height and width can be set to auto (this is default - the browser calculates the height and width),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You can also specify length values, like px, cm, etc., or percent (%) of the containing block.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The </a:t>
            </a:r>
            <a:r>
              <a:rPr b="1" lang="en-US"/>
              <a:t>max-width</a:t>
            </a:r>
            <a:r>
              <a:rPr lang="en-US"/>
              <a:t>/</a:t>
            </a:r>
            <a:r>
              <a:rPr b="1" lang="en-US"/>
              <a:t>min-width </a:t>
            </a:r>
            <a:r>
              <a:rPr lang="en-US"/>
              <a:t>property is used to set the maximum/minimum width of an element. Same for height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5eee9ae167_0_6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Padding</a:t>
            </a:r>
            <a:endParaRPr/>
          </a:p>
        </p:txBody>
      </p:sp>
      <p:sp>
        <p:nvSpPr>
          <p:cNvPr id="349" name="Google Shape;349;g5eee9ae167_0_66"/>
          <p:cNvSpPr txBox="1"/>
          <p:nvPr>
            <p:ph idx="1" type="body"/>
          </p:nvPr>
        </p:nvSpPr>
        <p:spPr>
          <a:xfrm>
            <a:off x="729325" y="2078875"/>
            <a:ext cx="3774300" cy="27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padding: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padding: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padding: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padding-top: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padding-right: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padding-bottom: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padding-left: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0" name="Google Shape;350;g5eee9ae167_0_6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CSS padding properties are used to generate space around an element's content, inside of any borders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There are properties for setting the padding for each side of an element (top, right, bottom, and left)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To shorten the code, it is possible to specify all the padding properties in one property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eee9ae167_0_6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Border</a:t>
            </a:r>
            <a:endParaRPr/>
          </a:p>
        </p:txBody>
      </p:sp>
      <p:sp>
        <p:nvSpPr>
          <p:cNvPr id="356" name="Google Shape;356;g5eee9ae167_0_60"/>
          <p:cNvSpPr txBox="1"/>
          <p:nvPr>
            <p:ph idx="1" type="body"/>
          </p:nvPr>
        </p:nvSpPr>
        <p:spPr>
          <a:xfrm>
            <a:off x="729325" y="2078875"/>
            <a:ext cx="3774300" cy="25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border: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solid red;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border-width: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border-color: red;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border-style: solid;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border-top: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solid red;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border-right: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dotted black;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border-bottom: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dashed green;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border-left: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dotted black;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57" name="Google Shape;357;g5eee9ae167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600" y="1797500"/>
            <a:ext cx="4361399" cy="282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5eee9ae167_0_7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Margin</a:t>
            </a:r>
            <a:endParaRPr/>
          </a:p>
        </p:txBody>
      </p:sp>
      <p:sp>
        <p:nvSpPr>
          <p:cNvPr id="363" name="Google Shape;363;g5eee9ae167_0_7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margin: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margin: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 margin: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div {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margin-top: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margin-right: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margin-bottom: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margin-left: </a:t>
            </a:r>
            <a:r>
              <a:rPr lang="en-US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5px</a:t>
            </a: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4" name="Google Shape;364;g5eee9ae167_0_7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CSS margin properties are used to create space around elements, outside of the defined borders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There are properties for setting the margin for each side of an element (top, right, bottom, and left)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To shorten the code, it is possible to specify all the margin properties in one property</a:t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Border Radius</a:t>
            </a:r>
            <a:endParaRPr/>
          </a:p>
        </p:txBody>
      </p:sp>
      <p:pic>
        <p:nvPicPr>
          <p:cNvPr id="370" name="Google Shape;3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161" y="1966449"/>
            <a:ext cx="3146654" cy="214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201" y="1713637"/>
            <a:ext cx="2803508" cy="283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US"/>
              <a:t>Box Shadow</a:t>
            </a:r>
            <a:endParaRPr/>
          </a:p>
        </p:txBody>
      </p:sp>
      <p:pic>
        <p:nvPicPr>
          <p:cNvPr id="377" name="Google Shape;3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42" y="1938177"/>
            <a:ext cx="4295735" cy="246533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9"/>
          <p:cNvSpPr txBox="1"/>
          <p:nvPr>
            <p:ph idx="1" type="body"/>
          </p:nvPr>
        </p:nvSpPr>
        <p:spPr>
          <a:xfrm>
            <a:off x="4686726" y="2078875"/>
            <a:ext cx="3774300" cy="226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/* Absolute */ p {   width: 50px; }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/* Relative to parent */ p {   width: 50%; }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/* Relative to font size */ p {   width: 2em;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5ef592f6ed_0_3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384" name="Google Shape;384;g5ef592f6ed_0_3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Does the amount of padding/margin increase the width/height of an element?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How can this behaviour be changed?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Write some code that illustrates this behavior and how it can be changed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5ef592f6ed_0_25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390" name="Google Shape;390;g5ef592f6ed_0_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78" y="196928"/>
            <a:ext cx="7930626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Laura</dc:creator>
</cp:coreProperties>
</file>